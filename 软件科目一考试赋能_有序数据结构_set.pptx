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cc1efad236474b" /><Relationship Type="http://schemas.openxmlformats.org/officeDocument/2006/relationships/extended-properties" Target="/docProps/app.xml" Id="R41fb0d599c334cbc" /><Relationship Type="http://schemas.openxmlformats.org/officeDocument/2006/relationships/officeDocument" Target="/ppt/presentation.xml" Id="R867a038b62c4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99e16fe11c488e"/>
  </p:sldMasterIdLst>
  <p:notesMasterIdLst>
    <p:notesMasterId xmlns:r="http://schemas.openxmlformats.org/officeDocument/2006/relationships" r:id="R0cc40c64be3947eb"/>
  </p:notesMasterIdLst>
  <p:sldIdLst>
    <p:sldId xmlns:r="http://schemas.openxmlformats.org/officeDocument/2006/relationships" id="256" r:id="R6d44eed370124539"/>
    <p:sldId xmlns:r="http://schemas.openxmlformats.org/officeDocument/2006/relationships" id="257" r:id="Rf932be91a6a14d38"/>
    <p:sldId xmlns:r="http://schemas.openxmlformats.org/officeDocument/2006/relationships" id="258" r:id="R13111e56fe9248df"/>
    <p:sldId xmlns:r="http://schemas.openxmlformats.org/officeDocument/2006/relationships" id="259" r:id="Ra034e37bb1584039"/>
    <p:sldId xmlns:r="http://schemas.openxmlformats.org/officeDocument/2006/relationships" id="260" r:id="R42ea49d89eee431b"/>
    <p:sldId xmlns:r="http://schemas.openxmlformats.org/officeDocument/2006/relationships" id="261" r:id="R70e96ce192f844b8"/>
    <p:sldId xmlns:r="http://schemas.openxmlformats.org/officeDocument/2006/relationships" id="262" r:id="R734cb0a288314606"/>
    <p:sldId xmlns:r="http://schemas.openxmlformats.org/officeDocument/2006/relationships" id="263" r:id="R483b301eba9841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db0feda974d85" /><Relationship Type="http://schemas.openxmlformats.org/officeDocument/2006/relationships/slideMaster" Target="/ppt/slideMasters/slideMaster1.xml" Id="Reb99e16fe11c488e" /><Relationship Type="http://schemas.openxmlformats.org/officeDocument/2006/relationships/notesMaster" Target="/ppt/notesMasters/notesMaster1.xml" Id="R0cc40c64be3947eb" /><Relationship Type="http://schemas.openxmlformats.org/officeDocument/2006/relationships/presProps" Target="/ppt/presProps.xml" Id="R08a77259af7c40e7" /><Relationship Type="http://schemas.openxmlformats.org/officeDocument/2006/relationships/tableStyles" Target="/ppt/tableStyles.xml" Id="R313ec8d5b4374bb8" /><Relationship Type="http://schemas.openxmlformats.org/officeDocument/2006/relationships/slide" Target="/ppt/slides/slide1.xml" Id="R6d44eed370124539" /><Relationship Type="http://schemas.openxmlformats.org/officeDocument/2006/relationships/slide" Target="/ppt/slides/slide2.xml" Id="Rf932be91a6a14d38" /><Relationship Type="http://schemas.openxmlformats.org/officeDocument/2006/relationships/slide" Target="/ppt/slides/slide3.xml" Id="R13111e56fe9248df" /><Relationship Type="http://schemas.openxmlformats.org/officeDocument/2006/relationships/slide" Target="/ppt/slides/slide4.xml" Id="Ra034e37bb1584039" /><Relationship Type="http://schemas.openxmlformats.org/officeDocument/2006/relationships/slide" Target="/ppt/slides/slide5.xml" Id="R42ea49d89eee431b" /><Relationship Type="http://schemas.openxmlformats.org/officeDocument/2006/relationships/slide" Target="/ppt/slides/slide6.xml" Id="R70e96ce192f844b8" /><Relationship Type="http://schemas.openxmlformats.org/officeDocument/2006/relationships/slide" Target="/ppt/slides/slide7.xml" Id="R734cb0a288314606" /><Relationship Type="http://schemas.openxmlformats.org/officeDocument/2006/relationships/slide" Target="/ppt/slides/slide8.xml" Id="R483b301eba9841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4909a81af4d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b00c91c6c49fe" /><Relationship Type="http://schemas.openxmlformats.org/officeDocument/2006/relationships/notesMaster" Target="/ppt/notesMasters/notesMaster1.xml" Id="R415bdc9b207846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4277789114ae6" /><Relationship Type="http://schemas.openxmlformats.org/officeDocument/2006/relationships/notesMaster" Target="/ppt/notesMasters/notesMaster1.xml" Id="R90de7f6d87f545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74c6d9f121489e" /><Relationship Type="http://schemas.openxmlformats.org/officeDocument/2006/relationships/notesMaster" Target="/ppt/notesMasters/notesMaster1.xml" Id="R1cc3d30e14f6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ffb5171ef64a3f" /><Relationship Type="http://schemas.openxmlformats.org/officeDocument/2006/relationships/notesMaster" Target="/ppt/notesMasters/notesMaster1.xml" Id="Rc3c22d1641ad43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ce2369e6d465f" /><Relationship Type="http://schemas.openxmlformats.org/officeDocument/2006/relationships/notesMaster" Target="/ppt/notesMasters/notesMaster1.xml" Id="R87fcb5e4b8c0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7b2e14b8d448e8" /><Relationship Type="http://schemas.openxmlformats.org/officeDocument/2006/relationships/notesMaster" Target="/ppt/notesMasters/notesMaster1.xml" Id="R9add687b6bf942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522b7f52ff474c" /><Relationship Type="http://schemas.openxmlformats.org/officeDocument/2006/relationships/notesMaster" Target="/ppt/notesMasters/notesMaster1.xml" Id="R2f88d1cbc97247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16626a8c014a7c" /><Relationship Type="http://schemas.openxmlformats.org/officeDocument/2006/relationships/notesMaster" Target="/ppt/notesMasters/notesMaster1.xml" Id="Rfe0ae181d475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207afb06345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7f3a2c9297484c" /><Relationship Type="http://schemas.openxmlformats.org/officeDocument/2006/relationships/slideLayout" Target="/ppt/slideLayouts/slideLayout1.xml" Id="R2527ec8e83e84c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7ec8e83e84c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cd33ca92a43fa" /><Relationship Type="http://schemas.openxmlformats.org/officeDocument/2006/relationships/notesSlide" Target="/ppt/notesSlides/notesSlide1.xml" Id="R36c8ca6891c847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19023d13e4aa7" /><Relationship Type="http://schemas.openxmlformats.org/officeDocument/2006/relationships/notesSlide" Target="/ppt/notesSlides/notesSlide2.xml" Id="R74de9c2302c54f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d0913f489478f" /><Relationship Type="http://schemas.openxmlformats.org/officeDocument/2006/relationships/notesSlide" Target="/ppt/notesSlides/notesSlide3.xml" Id="R373116eed3ed48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4387b014c420e" /><Relationship Type="http://schemas.openxmlformats.org/officeDocument/2006/relationships/notesSlide" Target="/ppt/notesSlides/notesSlide4.xml" Id="Rae71e05cb7c248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bd8396d0f4b79" /><Relationship Type="http://schemas.openxmlformats.org/officeDocument/2006/relationships/notesSlide" Target="/ppt/notesSlides/notesSlide5.xml" Id="R46a473c353fe48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515be8bc64362" /><Relationship Type="http://schemas.openxmlformats.org/officeDocument/2006/relationships/notesSlide" Target="/ppt/notesSlides/notesSlide6.xml" Id="Rc27a66260ed843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3743fceb484e" /><Relationship Type="http://schemas.openxmlformats.org/officeDocument/2006/relationships/notesSlide" Target="/ppt/notesSlides/notesSlide7.xml" Id="R9548f737dcbc48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063d91b5a4b59" /><Relationship Type="http://schemas.openxmlformats.org/officeDocument/2006/relationships/notesSlide" Target="/ppt/notesSlides/notesSlide8.xml" Id="R8646d473f89640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526B3-1170-4E7D-930F-49CB5DDC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65341-BC7F-487D-858A-6DEF1DCB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软件科目一考试赋能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5DEE8-A239-4F2E-A868-EBC7EA8A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有序数据结构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D10B0-761C-4108-A427-DC162D5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以 C++ set 为例，真正读懂比较器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157E7-618F-469A-9C24-5FDD68BA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10668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B4DB9-F5C9-470E-A6F8-4EB91262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BB116-57AD-4ABD-A55B-D715C48B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set 的顺序、唯一性与查找边界，全部由 Compare 定义。</a:t>
            </a:r>
          </a:p>
        </p:txBody>
      </p:sp>
    </p:spTree>
    <p:extLst>
      <p:ext uri="{BB962C8B-B14F-4D97-AF65-F5344CB8AC3E}">
        <p14:creationId xmlns:p14="http://schemas.microsoft.com/office/powerpoint/2010/main" val="1712972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029B4-D64F-4AD0-A743-9DC76AD2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FEDAA-D54E-4B25-A057-80233D96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set&lt;T, Compare&gt;：考试时先看两个泛型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F6F95-89D7-42C9-BDEE-5771B8FA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C940C-8852-4474-AB91-604A41B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28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std::set&lt;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149BF-2951-4F62-BC56-5E94CCBC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859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85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FB7C8-A112-4E8A-B062-76952C1C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85900"/>
            <a:ext cx="26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28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F4897-37B1-420A-BB04-339E1107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859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5484D"/>
                </a:solidFill>
                <a:latin typeface="Consolas"/>
                <a:ea typeface="Consolas"/>
                <a:cs typeface="Consolas"/>
              </a:defRPr>
            </a:pPr>
            <a:r>
              <a:rPr sz="2850" b="1">
                <a:solidFill>
                  <a:srgbClr val="E5484D"/>
                </a:solidFill>
                <a:latin typeface="Consolas"/>
                <a:ea typeface="Consolas"/>
                <a:cs typeface="Consolas"/>
              </a:rPr>
              <a:t>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D852E-5A0B-42E1-9B52-C87FB0E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859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28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1A13A-08D2-447E-927F-68F0CF9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57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E9884-DCFB-457C-B61A-E48B6D33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51435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B9DCE-ABF8-4355-82D7-DC257588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① 元素类型 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C2637-7393-4393-9352-E45B6A1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47F76-08C2-4631-9FD8-06E336F6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决定容器里“存什么”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9B5A5-43C2-4E32-B5D1-B03AADA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61DBD-EC9A-4EB1-B998-20DAD7BE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如 int、string、Student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91DC8-6830-4356-8EEC-7F205A9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② 比较器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94F75-877E-44E3-966B-537E26CA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B736B-B5BB-4FAC-A7D4-908B0598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4057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决定谁排在谁前面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3E51A-E92B-4878-9847-978A1FA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39208-BDEE-47DE-8312-641921BD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057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也决定两个元素是否“等价”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F33A2-7898-458C-BB63-ACA617F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5F6B7A"/>
                </a:solidFill>
                <a:latin typeface="Consolas"/>
                <a:ea typeface="Consolas"/>
                <a:cs typeface="Consolas"/>
              </a:rPr>
              <a:t>默认值：Compare = std::less&lt;T&gt;</a:t>
            </a:r>
          </a:p>
        </p:txBody>
      </p:sp>
    </p:spTree>
    <p:extLst>
      <p:ext uri="{BB962C8B-B14F-4D97-AF65-F5344CB8AC3E}">
        <p14:creationId xmlns:p14="http://schemas.microsoft.com/office/powerpoint/2010/main" val="1060768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5539B-FABC-414F-A749-2B5B713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80324-8A09-4E91-9ECD-E241332E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比较器不只是“排序函数”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ABB10-4E5F-46F2-ABFA-0F8B4954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6AF48-94BB-4AA0-8F28-64554DF3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625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Compare(a, b) ==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E7881-CF98-4EDE-916B-BA5CE248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表示：a 必须排在 b 前面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3F6EF-EDE9-41A7-96EB-214FB6D3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857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C26CC-A859-440D-A9B2-75B2182D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25B12-C7DB-4BF6-B5C2-ACA3BA8C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决定遍历结果与 lower_bound 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09ADB-C782-4672-B1C8-B8F02611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9875"/>
            <a:ext cx="5543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D93A9-F1BD-4079-8CBE-0DF218DB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唯一性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21A12-B7EE-4C6A-8569-3A9F895A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若 !comp(a,b) &amp;&amp; !comp(b,a)，set 认为 a 与 b 等价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7BA2F-6676-4483-B3C2-CFC64D91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注意：等价 ≠ operator== 相等</a:t>
            </a:r>
          </a:p>
        </p:txBody>
      </p:sp>
    </p:spTree>
    <p:extLst>
      <p:ext uri="{BB962C8B-B14F-4D97-AF65-F5344CB8AC3E}">
        <p14:creationId xmlns:p14="http://schemas.microsoft.com/office/powerpoint/2010/main" val="1681854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3B682-CE4C-47ED-B6A2-42EFB817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30336-358D-46BC-880C-DC66827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“强比较器”在 C++ 中对应严格弱序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A4FF8-B161-471D-8365-C674E1E2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08FBE-75DD-480C-B07A-BB59A3A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严格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905D0-ABC9-4279-8BE1-C0D98656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81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弱序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1D612-B053-4E38-AB2C-055F6D7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144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B7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5F6B7A"/>
                </a:solidFill>
                <a:latin typeface="Consolas"/>
                <a:ea typeface="Consolas"/>
                <a:cs typeface="Consolas"/>
              </a:rPr>
              <a:t>strict weak ordering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64214-3BE9-44DB-93E1-C3295FC1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  非自反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2690A-D922-4878-8572-AA80F246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41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comp(a, a) 必须为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72779-8E4A-4129-975D-86BAB888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  非对称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CD156-22D1-4C1D-AC89-4303242D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43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comp(a, b) 为 true ⇒ comp(b, a) 为 false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A5032-D2E1-4A51-BC55-9A76F5E3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  传递性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79D20-8205-4EEF-B860-2608D5A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624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a&lt;b 且 b&lt;c ⇒ a&lt;c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F3A2D-6387-4250-BEA4-2C21780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4  等价关系可传递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E8FAD-EDC4-4AE8-8D5F-6638D060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81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a≈b 且 b≈c ⇒ a≈c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5AD36-CBB9-447D-A641-F88FD3CC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F6B7A"/>
                </a:solidFill>
                <a:latin typeface="Consolas"/>
                <a:ea typeface="Consolas"/>
                <a:cs typeface="Consolas"/>
              </a:rPr>
              <a:t>其中 a≈b 定义为：!comp(a,b) &amp;&amp; !comp(b,a)</a:t>
            </a:r>
          </a:p>
        </p:txBody>
      </p:sp>
    </p:spTree>
    <p:extLst>
      <p:ext uri="{BB962C8B-B14F-4D97-AF65-F5344CB8AC3E}">
        <p14:creationId xmlns:p14="http://schemas.microsoft.com/office/powerpoint/2010/main" val="1390750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33EF6-3D03-41CF-ACC4-8F516A40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E0BF0-ECEA-43AD-8A6E-25A6A7C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最常见失误：把 ≤ 写进比较器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1FAA1-BAF0-4879-A63A-2E5904DA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CAFC1-DAD7-4A90-870E-B605673B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2200F-9CFC-4767-8A7C-11C079A8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struct Bad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40790-70B3-4B90-ABFE-5852C059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bool operator()(int a, int b) const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6C147-006B-495B-AEDD-CD486FCF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DD3FC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return a &lt;= b;  // 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7B997-59DA-4E7A-B996-7B9E7627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01CA9-912B-4F56-91A9-E5927EB5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27786-F547-42CB-8583-247183BA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当 a == b 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F4BC9-0295-4ABF-BA6F-604F1B7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5484D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E5484D"/>
                </a:solidFill>
                <a:latin typeface="Consolas"/>
                <a:ea typeface="Consolas"/>
                <a:cs typeface="Consolas"/>
              </a:rPr>
              <a:t>comp(a,a) ==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334B2-E370-49CD-9456-6B2A69B9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直接违反“非自反”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B54D0-B666-46F4-BEE0-870E33EA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476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C9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9754B-C6CA-4174-B982-7C455563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后果不是“偶尔排错”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73F3D-8525-4618-9B46-8C06C511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而是容器行为不再受标准保证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020F6-3ABC-47C9-874D-CC2B025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口诀：比较器回答“严格排在前面吗？”——只能用 &lt; 的逻辑，不能用 &lt;=。</a:t>
            </a:r>
          </a:p>
        </p:txBody>
      </p:sp>
    </p:spTree>
    <p:extLst>
      <p:ext uri="{BB962C8B-B14F-4D97-AF65-F5344CB8AC3E}">
        <p14:creationId xmlns:p14="http://schemas.microsoft.com/office/powerpoint/2010/main" val="1199418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8F03E-82E0-4DB5-9C2D-39DA1BEF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E60F-F761-4ECC-85EC-178D7A1F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多关键字比较：逐层决胜，直到能够区分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AC612-B9AF-4122-BB1A-2D5098F1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A26AF-687B-48B3-A9FD-68EFE41E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目标：分数高的在前；同分时学号小的在前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D77D6-8489-4941-B083-4A0B60B6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619125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7AA68-DFEB-47E5-928C-7D47434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struct ByRank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0B8A6-1DF1-492C-8B96-2AEFC14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bool operator()(const Student&amp; a,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9B5E0-C4A5-41BC-B029-D0F883A6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              const Student&amp; b) const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D5E34-D301-4B26-9B52-14849B7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if (a.score != b.score)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4EB63-EBC9-4507-AE17-A8B6A641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DD3FC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  return a.score &gt; b.score;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5D1FB-69AB-4D97-8436-10AF8F2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DD3FC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return a.id &lt; b.id;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C1B1F-CC28-4164-A289-B62F240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5B503-4697-4B86-97E3-9FD82BD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8A840-A2F6-4E71-8762-607E2E6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38481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C5EFC-B148-4C5C-A331-D447D6FA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检查三件事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C974B-2D4F-46FB-8341-40F31E40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56378-FECD-4F29-A3E4-17362181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相同对象永远返回 false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1D8D8-D979-45F9-9C01-7956DB56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2FABE-012B-4B55-B142-E3220691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正反方向不会同时为 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C1654-932B-4D6E-AEC8-EDE6619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AFFE3-66B1-4E00-AC89-6F85C64E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每层规则方向保持一致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C70DA-1CA6-49D5-BCE1-F7CC80FA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推荐写法：std::tie / std::tuple 也可表达字典序。</a:t>
            </a:r>
          </a:p>
        </p:txBody>
      </p:sp>
    </p:spTree>
    <p:extLst>
      <p:ext uri="{BB962C8B-B14F-4D97-AF65-F5344CB8AC3E}">
        <p14:creationId xmlns:p14="http://schemas.microsoft.com/office/powerpoint/2010/main" val="2081276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6A9E4F-F73F-4AA3-AB9C-D50C0B6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72E3A-6209-4A54-80A4-287B120D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代码实战：成绩榜去重与排名查询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459AD-E890-4849-9E74-4CE50FBB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F0762-EB00-464D-BC25-BDCBF99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7524750" cy="5143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F4F80-C440-4B8F-99C0-683CDC3F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#include &lt;iostream&gt;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BE008-2D30-4E6F-B6A3-9D37A6C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353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#include &lt;set&gt;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E162F-2733-4A99-BBE5-BCAB7618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356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#include &lt;string&gt;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A667F-B6F2-433F-8C50-CB05812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359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using namespace std;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6F658-0BDC-4563-8490-2BFEF50C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362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struct Student { int id, score; string name; };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B5476-BEB8-45ED-A7D0-A1A54B2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struct ByRank 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D57E-B131-4C7C-AF43-E7AC79C9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368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bool operator()(const Student&amp; a, const Student&amp; b) const 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73F6F-884D-4A0A-8C35-3EA05E87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371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DD3FC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if (a.score != b.score) return a.score &gt; b.score;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58A52-6930-44EA-8F2D-06F950B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374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DD3FC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return a.id &lt; b.id;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1558D-2D91-40B8-B4CD-0A25F5D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377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F7974-1253-469E-A5A1-4D49DBDB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DDBEF-FA3C-405D-9B6B-332F84E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383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int main() {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5E642-6458-47F4-B21B-C5A17F52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386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DD3FC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set&lt;Student, ByRank&gt; ranking;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4274F-B28E-4A05-AD50-F7F5499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389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ranking.insert({1003, 92, "Lin"});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28A92-32EB-4E42-AEC8-CDEC7B02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392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ranking.insert({1001, 92, "Chen"});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B8797-6081-41D4-ABDA-E9D7EC18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ranking.insert({1002, 88, "Zhao"});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49DF2-7D71-43E1-A9FA-413783E0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398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DD3FC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ranking.insert({1001, 92, "Chen-new"});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2B0A9-5665-40BF-B229-90B983B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401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for (const auto&amp; s : ranking)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5DFAC-47A7-4B6F-A843-068490C0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404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cout &lt;&lt; s.id &lt;&lt; ' ' &lt;&lt; s.score &lt;&lt; ' ' &lt;&lt; s.name &lt;&lt; '\n';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389CD-F07D-42DE-BBD5-3492FDF5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4070"/>
            <a:ext cx="7067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50560-3EB9-44A8-8E3F-8ECF77DC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90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908E98-D073-434E-B180-0653D237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1001  92  Chen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1003  92  Lin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1002  88  Zhao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C5A7D-842C-4565-97B4-7ED2CA6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29000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D9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7DBCB-1123-40CF-99EF-7A8FD4A7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为什么 Chen-new 没插入？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8EB48-66B2-487A-87C5-E48026C1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比较器只看 score 与 id；两者都无法区分时，set 判定为等价。</a:t>
            </a:r>
          </a:p>
        </p:txBody>
      </p:sp>
    </p:spTree>
    <p:extLst>
      <p:ext uri="{BB962C8B-B14F-4D97-AF65-F5344CB8AC3E}">
        <p14:creationId xmlns:p14="http://schemas.microsoft.com/office/powerpoint/2010/main" val="553331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35ADDF-587F-4FAC-9000-036F8AF4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E5AF5-05B3-4D20-BD18-C12FE224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收束：遇到 set 比较器，按这条链路作答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DA6ED-DD22-46AE-B0F1-11C86EC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FAD5F-DF29-470D-ABB1-651B8B1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669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0B18D-423B-4853-A138-3A479970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745F4-B6A4-4E24-8B0A-64334FB3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看声明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533C1-CE8B-42E5-8D56-48837A81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T 存什么？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Compare 是谁？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120D7-CCDD-4ED9-81EF-959C625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52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91531-127A-4798-BBE9-3191545A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33600"/>
            <a:ext cx="22669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29AB1-F362-4A4E-9259-E54B371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72D7D-32E8-46A2-B074-FBD1E369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读语义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4223F-DA1F-44FF-B844-3311EC5F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true 是否表示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严格排在前？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4131F-FE1B-476A-A5DF-F8E9A9D7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52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F9BBF-75BB-406B-8FA2-6999A2D9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2669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8FB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44CCD-329A-4D6D-AD2E-24C94C97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2934C-8609-426A-B179-E54AEE7A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验性质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6BD8D-ECF9-46AF-9542-DF6DDC0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81375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非自反、非对称、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传递、等价传递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DC7C1-CA2D-4B5F-B506-F818255A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C8728-EA3C-4AEA-9722-BE4D3EE6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2669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25DE4-96D5-45C6-8534-79192CE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82C1C-B680-4DAC-B7BC-5BEF79C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推结果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D600A-BB5C-44EE-9726-80EE8D2F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81375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顺序、去重、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查找边界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3A4AA-DC44-4598-B9ED-9F50E9F5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一句话记忆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1F877-A740-4538-A270-11091A81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set 用比较器建立“严格弱序”；不可区分的元素，就是 set 眼中的同一个键。</a:t>
            </a:r>
          </a:p>
        </p:txBody>
      </p:sp>
    </p:spTree>
    <p:extLst>
      <p:ext uri="{BB962C8B-B14F-4D97-AF65-F5344CB8AC3E}">
        <p14:creationId xmlns:p14="http://schemas.microsoft.com/office/powerpoint/2010/main" val="1731735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2026-08-05T11:52:13.1070000Z</dcterms:created>
  <dcterms:modified xsi:type="dcterms:W3CDTF">2026-08-05T11:52:13.1070000Z</dcterms:modified>
</coreProperties>
</file>