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4e74f321a549dc" /><Relationship Type="http://schemas.openxmlformats.org/officeDocument/2006/relationships/extended-properties" Target="/docProps/app.xml" Id="R9293e37991a3407e" /><Relationship Type="http://schemas.openxmlformats.org/officeDocument/2006/relationships/officeDocument" Target="/ppt/presentation.xml" Id="R766e33ffecba48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de7031c96d4761"/>
  </p:sldMasterIdLst>
  <p:notesMasterIdLst>
    <p:notesMasterId xmlns:r="http://schemas.openxmlformats.org/officeDocument/2006/relationships" r:id="R59037ecf07844933"/>
  </p:notesMasterIdLst>
  <p:sldIdLst>
    <p:sldId xmlns:r="http://schemas.openxmlformats.org/officeDocument/2006/relationships" id="256" r:id="Re92fdc01cc2d41dc"/>
    <p:sldId xmlns:r="http://schemas.openxmlformats.org/officeDocument/2006/relationships" id="257" r:id="Re825b2ce82f94e7b"/>
    <p:sldId xmlns:r="http://schemas.openxmlformats.org/officeDocument/2006/relationships" id="258" r:id="R1e204bda53224bdd"/>
    <p:sldId xmlns:r="http://schemas.openxmlformats.org/officeDocument/2006/relationships" id="259" r:id="Ra2d5b2cf08a44f3f"/>
    <p:sldId xmlns:r="http://schemas.openxmlformats.org/officeDocument/2006/relationships" id="260" r:id="R0e140f11250f43b8"/>
    <p:sldId xmlns:r="http://schemas.openxmlformats.org/officeDocument/2006/relationships" id="261" r:id="Rc947e7a711e44939"/>
    <p:sldId xmlns:r="http://schemas.openxmlformats.org/officeDocument/2006/relationships" id="262" r:id="Ra7ef6ca41a3743b5"/>
    <p:sldId xmlns:r="http://schemas.openxmlformats.org/officeDocument/2006/relationships" id="263" r:id="R134bcb00bb0e457a"/>
    <p:sldId xmlns:r="http://schemas.openxmlformats.org/officeDocument/2006/relationships" id="264" r:id="R119f5fd6270b46cc"/>
    <p:sldId xmlns:r="http://schemas.openxmlformats.org/officeDocument/2006/relationships" id="265" r:id="R82b7527353df47ba"/>
    <p:sldId xmlns:r="http://schemas.openxmlformats.org/officeDocument/2006/relationships" id="266" r:id="R7550cba8f2bc4f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ce05836fa841d0" /><Relationship Type="http://schemas.openxmlformats.org/officeDocument/2006/relationships/slideMaster" Target="/ppt/slideMasters/slideMaster1.xml" Id="R88de7031c96d4761" /><Relationship Type="http://schemas.openxmlformats.org/officeDocument/2006/relationships/notesMaster" Target="/ppt/notesMasters/notesMaster1.xml" Id="R59037ecf07844933" /><Relationship Type="http://schemas.openxmlformats.org/officeDocument/2006/relationships/presProps" Target="/ppt/presProps.xml" Id="R6e6e956f97af4b8d" /><Relationship Type="http://schemas.openxmlformats.org/officeDocument/2006/relationships/tableStyles" Target="/ppt/tableStyles.xml" Id="Rd896ef159a33437c" /><Relationship Type="http://schemas.openxmlformats.org/officeDocument/2006/relationships/slide" Target="/ppt/slides/slide1.xml" Id="Re92fdc01cc2d41dc" /><Relationship Type="http://schemas.openxmlformats.org/officeDocument/2006/relationships/slide" Target="/ppt/slides/slide2.xml" Id="Re825b2ce82f94e7b" /><Relationship Type="http://schemas.openxmlformats.org/officeDocument/2006/relationships/slide" Target="/ppt/slides/slide3.xml" Id="R1e204bda53224bdd" /><Relationship Type="http://schemas.openxmlformats.org/officeDocument/2006/relationships/slide" Target="/ppt/slides/slide4.xml" Id="Ra2d5b2cf08a44f3f" /><Relationship Type="http://schemas.openxmlformats.org/officeDocument/2006/relationships/slide" Target="/ppt/slides/slide5.xml" Id="R0e140f11250f43b8" /><Relationship Type="http://schemas.openxmlformats.org/officeDocument/2006/relationships/slide" Target="/ppt/slides/slide6.xml" Id="Rc947e7a711e44939" /><Relationship Type="http://schemas.openxmlformats.org/officeDocument/2006/relationships/slide" Target="/ppt/slides/slide7.xml" Id="Ra7ef6ca41a3743b5" /><Relationship Type="http://schemas.openxmlformats.org/officeDocument/2006/relationships/slide" Target="/ppt/slides/slide8.xml" Id="R134bcb00bb0e457a" /><Relationship Type="http://schemas.openxmlformats.org/officeDocument/2006/relationships/slide" Target="/ppt/slides/slide9.xml" Id="R119f5fd6270b46cc" /><Relationship Type="http://schemas.openxmlformats.org/officeDocument/2006/relationships/slide" Target="/ppt/slides/slide10.xml" Id="R82b7527353df47ba" /><Relationship Type="http://schemas.openxmlformats.org/officeDocument/2006/relationships/slide" Target="/ppt/slides/slide11.xml" Id="R7550cba8f2bc4f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dec2daf8b14f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d6befda7e04685" /><Relationship Type="http://schemas.openxmlformats.org/officeDocument/2006/relationships/notesMaster" Target="/ppt/notesMasters/notesMaster1.xml" Id="R5d62f289e0b347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79af5e6a134e32" /><Relationship Type="http://schemas.openxmlformats.org/officeDocument/2006/relationships/notesMaster" Target="/ppt/notesMasters/notesMaster1.xml" Id="Re442a5865aa446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1ee5a9153d4b53" /><Relationship Type="http://schemas.openxmlformats.org/officeDocument/2006/relationships/notesMaster" Target="/ppt/notesMasters/notesMaster1.xml" Id="Rfca6be918e5547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44ac6550bf4c9c" /><Relationship Type="http://schemas.openxmlformats.org/officeDocument/2006/relationships/notesMaster" Target="/ppt/notesMasters/notesMaster1.xml" Id="R1dc741415b324c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1b5ef018f84795" /><Relationship Type="http://schemas.openxmlformats.org/officeDocument/2006/relationships/notesMaster" Target="/ppt/notesMasters/notesMaster1.xml" Id="Rdc7b8e47c6a24b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e7e9739c5a46a7" /><Relationship Type="http://schemas.openxmlformats.org/officeDocument/2006/relationships/notesMaster" Target="/ppt/notesMasters/notesMaster1.xml" Id="Rf13dfae9660241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bd878203e343a4" /><Relationship Type="http://schemas.openxmlformats.org/officeDocument/2006/relationships/notesMaster" Target="/ppt/notesMasters/notesMaster1.xml" Id="R5f628fb5739143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d86da762ba242b7" /><Relationship Type="http://schemas.openxmlformats.org/officeDocument/2006/relationships/notesMaster" Target="/ppt/notesMasters/notesMaster1.xml" Id="Rb39b958a4cb041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bb9977de474610" /><Relationship Type="http://schemas.openxmlformats.org/officeDocument/2006/relationships/notesMaster" Target="/ppt/notesMasters/notesMaster1.xml" Id="R79aa148d6c654b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7d7f4bc1cf942ec" /><Relationship Type="http://schemas.openxmlformats.org/officeDocument/2006/relationships/notesMaster" Target="/ppt/notesMasters/notesMaster1.xml" Id="R49ac6c9c51d54f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03d4ddd1db4545" /><Relationship Type="http://schemas.openxmlformats.org/officeDocument/2006/relationships/notesMaster" Target="/ppt/notesMasters/notesMaster1.xml" Id="Rb4c3bfd8a41b41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2d770a65a648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99f8ab26a94d80" /><Relationship Type="http://schemas.openxmlformats.org/officeDocument/2006/relationships/slideLayout" Target="/ppt/slideLayouts/slideLayout1.xml" Id="Rafda63fd20d943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da63fd20d943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5b9351fdb4456" /><Relationship Type="http://schemas.openxmlformats.org/officeDocument/2006/relationships/notesSlide" Target="/ppt/notesSlides/notesSlide1.xml" Id="R18cc0f335b064c4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b99382b074766" /><Relationship Type="http://schemas.openxmlformats.org/officeDocument/2006/relationships/notesSlide" Target="/ppt/notesSlides/notesSlide2.xml" Id="R4384c662db7947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f208ebda949a5" /><Relationship Type="http://schemas.openxmlformats.org/officeDocument/2006/relationships/notesSlide" Target="/ppt/notesSlides/notesSlide3.xml" Id="Ra0c9bb991d3d4a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d064fe7634613" /><Relationship Type="http://schemas.openxmlformats.org/officeDocument/2006/relationships/notesSlide" Target="/ppt/notesSlides/notesSlide4.xml" Id="R42f7f95e73cf4c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19fc744b08427b" /><Relationship Type="http://schemas.openxmlformats.org/officeDocument/2006/relationships/notesSlide" Target="/ppt/notesSlides/notesSlide5.xml" Id="R14e962fbc55b46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6d07fa0744fae" /><Relationship Type="http://schemas.openxmlformats.org/officeDocument/2006/relationships/notesSlide" Target="/ppt/notesSlides/notesSlide6.xml" Id="Rfaeacda0fe0c49c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8e6539da04bf5" /><Relationship Type="http://schemas.openxmlformats.org/officeDocument/2006/relationships/notesSlide" Target="/ppt/notesSlides/notesSlide7.xml" Id="Rd2dc08cfcc1c4d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946bc01ba4fcd" /><Relationship Type="http://schemas.openxmlformats.org/officeDocument/2006/relationships/notesSlide" Target="/ppt/notesSlides/notesSlide8.xml" Id="Re878b3bf8cef4e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b60031c0094868" /><Relationship Type="http://schemas.openxmlformats.org/officeDocument/2006/relationships/notesSlide" Target="/ppt/notesSlides/notesSlide9.xml" Id="Ra2fa739a4f9049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d7b6210aa4e41" /><Relationship Type="http://schemas.openxmlformats.org/officeDocument/2006/relationships/notesSlide" Target="/ppt/notesSlides/notesSlide10.xml" Id="R5485b6e08db249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870e9d78b44c89" /><Relationship Type="http://schemas.openxmlformats.org/officeDocument/2006/relationships/notesSlide" Target="/ppt/notesSlides/notesSlide11.xml" Id="R279ab5d8b7e441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7E6576-87C5-44B1-B69E-4406352B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E473F1-EC3D-4A8B-A44C-41DCB59A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软件科目一考试赋能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61D66-AA0B-47EA-88A7-1DF50169F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9906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有序数据结构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5391C4-BDE5-4F21-AD08-F9C223B9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以 C++ set 为例，真正读懂比较器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4ED7EF-9871-455E-8261-701EFF4B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33900"/>
            <a:ext cx="10668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EAF1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49C56-3C42-4562-9F57-2CB2008E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核心结论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E11C2F-62A0-479A-8DD8-3E914EFE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244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set 的顺序、唯一性与查找边界，全部由 Compare 定义。</a:t>
            </a:r>
          </a:p>
        </p:txBody>
      </p:sp>
    </p:spTree>
    <p:extLst>
      <p:ext uri="{BB962C8B-B14F-4D97-AF65-F5344CB8AC3E}">
        <p14:creationId xmlns:p14="http://schemas.microsoft.com/office/powerpoint/2010/main" val="6075948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E98DDA-3993-425B-8925-FC0DAC2BF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99BEA-2D47-4F8F-AC4E-E2589965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set&lt;T, Compare&gt;：考试时先看两个泛型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57AFE-73DB-4258-AFA9-EEAE5D39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FB970-DBF4-4074-BEE6-1FA535FD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28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std::set&lt;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EBDE4-2D66-4D9B-8DF2-31AB63DF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485900"/>
            <a:ext cx="45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2850" b="1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574F7-EAC3-46DB-893C-85D2A4AC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485900"/>
            <a:ext cx="266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28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,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6FBBC0-DC8B-478C-AC36-CAC2D7F6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4859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5484D"/>
                </a:solidFill>
                <a:latin typeface="Consolas"/>
                <a:ea typeface="Consolas"/>
                <a:cs typeface="Consolas"/>
              </a:defRPr>
            </a:pPr>
            <a:r>
              <a:rPr sz="2850" b="1">
                <a:solidFill>
                  <a:srgbClr val="E5484D"/>
                </a:solidFill>
                <a:latin typeface="Consolas"/>
                <a:ea typeface="Consolas"/>
                <a:cs typeface="Consolas"/>
              </a:rPr>
              <a:t>Compare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43748-409D-4155-83CB-956FE467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485900"/>
            <a:ext cx="400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285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90DEDF-ACBB-4ED8-8A1B-FFA247FA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485775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B6ED7-3B31-4DC9-BADB-20BD4C68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57450"/>
            <a:ext cx="5143500" cy="2647950"/>
          </a:xfrm>
          <a:prstGeom xmlns:a="http://schemas.openxmlformats.org/drawingml/2006/main" prst="roundRect">
            <a:avLst>
              <a:gd name="adj" fmla="val 4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4954E7-EC4C-4CB5-82C2-CD8665D4E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① 元素类型 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D4A8A9-694F-4172-82DF-BBBBD7B4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E810AC-B80F-4F11-B6A2-399415F0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337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决定容器里“存什么”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3B93A0-CC73-47F9-99BE-4586CC66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90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CFE047-F10F-46E1-BACB-47D605A4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052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如 int、string、Student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3943E-569C-4289-9483-8750904F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622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② 比较器 Compare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E56EDB-B4D5-42E0-B2E2-44E10471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FCAB01-8D68-4A89-B973-4B96587C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33750"/>
            <a:ext cx="4057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决定谁排在谁前面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CDEEEC-149B-48BA-B1F1-E808DE910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90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72A1A-896A-46A1-8A26-77ABE62E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4057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也决定两个元素是否“等价”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96810-F235-4FBA-B886-C730E03F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007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B7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5F6B7A"/>
                </a:solidFill>
                <a:latin typeface="Consolas"/>
                <a:ea typeface="Consolas"/>
                <a:cs typeface="Consolas"/>
              </a:rPr>
              <a:t>默认值：Compare = std::less&lt;T&gt;</a:t>
            </a:r>
          </a:p>
        </p:txBody>
      </p:sp>
    </p:spTree>
    <p:extLst>
      <p:ext uri="{BB962C8B-B14F-4D97-AF65-F5344CB8AC3E}">
        <p14:creationId xmlns:p14="http://schemas.microsoft.com/office/powerpoint/2010/main" val="21019122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C2C9AE-B349-49F1-B2C5-8DA1C3A8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D6C964-5232-4BD7-AF40-C5E64F3E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比较器不只是“排序函数”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D124DA-C4A8-4A6E-9E8B-66D4EB19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9D065-F68E-476A-B85B-603524CBC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533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2625" b="1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Compare(a, b) == true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B77C2-9A1E-441A-B8B7-CC4D79E7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表示：a 必须排在 b 前面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01C52F-F0A3-4505-ADF2-494B7A7A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48577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B2017-426A-449A-9BE4-CE17E564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顺序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59CE09-0F8A-4756-A3A4-ADE84E19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决定遍历结果与 lower_bound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7D1EB0-8AD7-443C-B8C1-B6C0FD5D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09875"/>
            <a:ext cx="5543550" cy="2038350"/>
          </a:xfrm>
          <a:prstGeom xmlns:a="http://schemas.openxmlformats.org/drawingml/2006/main" prst="roundRect">
            <a:avLst>
              <a:gd name="adj" fmla="val 56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21F51D-19A1-4F2B-B3D9-59886AFC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670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唯一性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2EDB6-64D1-4035-A831-5A456A82E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2425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若 !comp(a,b) &amp;&amp; !comp(b,a)，set 认为 a 与 b 等价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EF73F-36C3-4CEC-976E-858E829C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注意：等价 ≠ operator== 相等</a:t>
            </a:r>
          </a:p>
        </p:txBody>
      </p:sp>
    </p:spTree>
    <p:extLst>
      <p:ext uri="{BB962C8B-B14F-4D97-AF65-F5344CB8AC3E}">
        <p14:creationId xmlns:p14="http://schemas.microsoft.com/office/powerpoint/2010/main" val="20513436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E2940A-AF0C-4C92-B326-DF686AE4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BAD356-3EC0-4232-A5F8-0DCC2FB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“强比较器”在 C++ 中对应严格弱序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B7F39-5018-4DFB-AB12-EDF1A5FC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63696-B6BD-42E3-8D7A-830F1640C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严格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F23C6A-042A-4E99-8810-E8D52C5E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38112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弱序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6B37D-0920-41ED-B6CE-CAA5E70E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1447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F6B7A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5F6B7A"/>
                </a:solidFill>
                <a:latin typeface="Consolas"/>
                <a:ea typeface="Consolas"/>
                <a:cs typeface="Consolas"/>
              </a:rPr>
              <a:t>strict weak ordering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0D169-D61D-42D3-9F49-B58CE238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1  非自反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572A6-DC17-4AD4-AE7A-212CB00A3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24125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comp(a, a) 必须为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A4785-B463-49D7-88DB-87321B30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432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2  非对称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AD1F7-521C-481B-A2C0-390AAA66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43275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comp(a, b) 为 true ⇒ comp(b, a) 为 false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631964-0906-4F70-9ACB-1BC31194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3  传递性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8D5C7A-C041-4349-960C-6E8DA13B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162425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a&lt;b 且 b&lt;c ⇒ a&lt;c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9BC818-2E90-4D66-B4CB-EF6BB5ED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815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4  等价关系可传递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16981C-D263-401A-890D-702CF219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81575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a≈b 且 b≈c ⇒ a≈c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7F5CAD-D228-4F82-A18D-DFFA65AE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B7A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5F6B7A"/>
                </a:solidFill>
                <a:latin typeface="Consolas"/>
                <a:ea typeface="Consolas"/>
                <a:cs typeface="Consolas"/>
              </a:rPr>
              <a:t>其中 a≈b 定义为：!comp(a,b) &amp;&amp; !comp(b,a)</a:t>
            </a:r>
          </a:p>
        </p:txBody>
      </p:sp>
    </p:spTree>
    <p:extLst>
      <p:ext uri="{BB962C8B-B14F-4D97-AF65-F5344CB8AC3E}">
        <p14:creationId xmlns:p14="http://schemas.microsoft.com/office/powerpoint/2010/main" val="16262035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8DD480-5562-4413-BCB1-8ACE1BC8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517F4-F0E8-404D-B578-5EBF72DC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最常见失误：把 ≤ 写进比较器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DD153-85D2-4B70-82AC-5C83ECD5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09578-0EF9-49AB-8D3A-FA526FA7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953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A6E40-A360-41B0-8752-64798536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struct Bad {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04DB5-26AC-4146-977C-4BDCC7D1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595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bool operator()(int a, int b) const {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6F995-B978-4CE5-A437-B49DE6F9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return a &lt;= b;  // 错误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B3B262-62EF-4516-A0EB-27E1F43F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745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D64087-D7EE-4348-8F4B-DF94EE59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449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};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F4619B-A761-42B5-90F9-818ECAA9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当 a == b 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3F2E1-63AC-4513-A867-C74FD9A53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5484D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E5484D"/>
                </a:solidFill>
                <a:latin typeface="Consolas"/>
                <a:ea typeface="Consolas"/>
                <a:cs typeface="Consolas"/>
              </a:rPr>
              <a:t>comp(a,a) == true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949730-C7A9-4FFD-8E23-A899C1DA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479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直接违反“非自反”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F16347-2D7C-4FFB-A4C2-59D50FEE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90900"/>
            <a:ext cx="44767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FC9C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57BDF-5DE4-46BA-B3BB-0B16E693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38550"/>
            <a:ext cx="3905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后果不是“偶尔排错”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6E333-F7F9-4D87-AC71-83696F70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而是容器行为不再受标准保证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1F418-B2C9-482F-A37F-35756621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38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口诀：比较器回答“严格排在前面吗？”——只能用 &lt; 的逻辑，不能用 &lt;=。</a:t>
            </a:r>
          </a:p>
        </p:txBody>
      </p:sp>
    </p:spTree>
    <p:extLst>
      <p:ext uri="{BB962C8B-B14F-4D97-AF65-F5344CB8AC3E}">
        <p14:creationId xmlns:p14="http://schemas.microsoft.com/office/powerpoint/2010/main" val="13755032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670F3-9DAE-49CB-BC0C-8F56286C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3E8E5-7047-474A-8863-F6387CBC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多关键字比较：逐层决胜，直到能够区分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F317A4-EC37-4BC8-B5BE-D6C0C1AD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43CAC-791C-4AB8-BCE8-7E0E13BA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目标：分数高的在前；同分时学号小的在前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B08ED-3559-4311-BCA5-1292BA19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619125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D30C4-C42A-4292-BE26-ADC882D2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struct ByRank {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A29E82-F27E-4BBC-9AFC-389516A7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bool operator()(const Student&amp; a,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08B8B-DA39-43DD-B269-91ABC4B0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              const Student&amp; b) const {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1CAA6-092C-43BC-B6D6-1129D2D0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if (a.score != b.score)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811E4-F519-477B-951B-130F3629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575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  return a.score &gt; b.score;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21E0F-801E-4079-AD25-2F1C0C7D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return a.id &lt; b.id;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5927A-2BA0-449E-9A63-6F5A0FD3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547B1-34F5-451D-9A80-08BF6925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};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1C1E94-C096-492E-8D0A-3BEE71B4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943100"/>
            <a:ext cx="38481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DC97D3-573F-44D2-9DF1-95AC78D8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247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检查三件事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39A3E8-B754-4147-87D4-8F6CE114E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C141F-5716-403E-A2A1-CCBAF27A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7655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相同对象永远返回 false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8C2A73-A596-4F30-8BE1-1F1FEFFD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09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1361E9-7D6C-4C8C-8674-79C72407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2425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正反方向不会同时为 true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58FFB8-C156-4414-B4B3-25CC32D9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85138-6A0E-4BF4-93BE-C6BD05EC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7195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每层规则方向保持一致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D84513-48E7-4E7B-BA17-11F64211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推荐写法：std::tie / std::tuple 也可表达字典序。</a:t>
            </a:r>
          </a:p>
        </p:txBody>
      </p:sp>
    </p:spTree>
    <p:extLst>
      <p:ext uri="{BB962C8B-B14F-4D97-AF65-F5344CB8AC3E}">
        <p14:creationId xmlns:p14="http://schemas.microsoft.com/office/powerpoint/2010/main" val="6267986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3C28FE-A147-4E61-AF03-5F99FB10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9EB82-448C-4151-9CBC-7D51063D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代码实战：成绩榜去重与排名查询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C8C0C-01B9-4431-BBD6-E5CC40EC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3B103F-66C5-4108-B30D-DFE717CB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7524750" cy="51435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4A8C39-F4B1-4B0F-9973-7EF5D7B4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3350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#include &lt;iostream&gt;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31C50-80F5-48E8-9374-EB0170E0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353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#include &lt;set&gt;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61CE5-F237-4986-AB9E-33989C248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356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#include &lt;string&gt;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8097F-20EF-426B-B5A2-35064771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359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using namespace std;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CE963-3B1D-481B-8F3C-16B47EDB0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9362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struct Student { int id, score; string name; };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3FBF32-BD20-45D7-944A-5C148F61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struct ByRank {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C68F91-4C6F-4B11-A017-04644FF6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7368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bool operator()(const Student&amp; a, const Student&amp; b) const {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5E1F8-0BE4-474C-8C62-BCDE3168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1371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if (a.score != b.score) return a.score &gt; b.score;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6A2D2-293E-427C-A737-6261C7389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374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return a.id &lt; b.id;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E5DB68-1BBD-4573-9D7F-F207A5AA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9377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4FA848-683D-4FA1-A0EC-A1297FFC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};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405480-10D2-49EC-A28C-1FDB6A54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7383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int main() {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D4092E-25FA-4143-9A9A-FD1B5DF6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386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set&lt;Student, ByRank&gt; ranking;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A9E50-7FDB-47D1-B342-8FBD1430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389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ranking.insert({1003, 92, "Lin"});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A5FCC7-8E29-43C7-A465-4FF09EEF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9392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ranking.insert({1001, 92, "Chen"});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C31BD-DF00-4642-9E9A-EF1664EA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ranking.insert({1002, 88, "Zhao"});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DB1D39-E7A6-47E3-AE2C-88973163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398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ranking.insert({1001, 92, "Chen-new"});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A06D6A-53CC-4C11-A984-31DD234C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401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for (const auto&amp; s : ranking)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8A380-A0D2-439E-B3CB-CF734B9C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404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cout &lt;&lt; s.id &lt;&lt; ' ' &lt;&lt; s.score &lt;&lt; ' ' &lt;&lt; s.name &lt;&lt; '\n';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22A41-4670-43B6-ADC3-6166D428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94070"/>
            <a:ext cx="7067550" cy="2400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F30BAC-8714-474B-BD56-152A5C73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3906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5D8FC1-7783-49BD-AAF9-D72D97CF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24050"/>
            <a:ext cx="2952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1001  92  Chen</a:t>
            </a:r>
          </a:p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1003  92  Lin</a:t>
            </a:r>
          </a:p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1002  88  Zhao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2DC3A6-73C7-47DD-9215-CEB5DE33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29000"/>
            <a:ext cx="30480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7E6"/>
          </a:solidFill>
          <a:ln xmlns:a="http://schemas.openxmlformats.org/drawingml/2006/main" w="9525">
            <a:solidFill>
              <a:srgbClr val="FFD99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697041-0E22-4424-96D5-AADFDAB7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为什么 Chen-new 没插入？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1E2F9E-CC37-4412-84C2-7174AFF4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05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比较器只看 score 与 id；两者都无法区分时，set 判定为等价。</a:t>
            </a:r>
          </a:p>
        </p:txBody>
      </p:sp>
    </p:spTree>
    <p:extLst>
      <p:ext uri="{BB962C8B-B14F-4D97-AF65-F5344CB8AC3E}">
        <p14:creationId xmlns:p14="http://schemas.microsoft.com/office/powerpoint/2010/main" val="10527187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4DF0D9-B641-4458-816B-B3595BE3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AC42D-25DD-4DDD-B288-060C01D6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lower_bound 与 upper_bound：找的是两个不同边界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679C18-CD1D-47B0-8ABD-D7CA9F3F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E91A0-C184-498C-8AC0-488C23F7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有序序列：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96493-1A64-4D24-81EF-53558F61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219200"/>
            <a:ext cx="7810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F0640-8B68-4810-84B5-F94D3019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90650"/>
            <a:ext cx="781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CE405-AC7C-4376-BD1C-8376E090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219200"/>
            <a:ext cx="7810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8FB3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A06A0-7B4B-4898-8B29-EFBD2A3F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390650"/>
            <a:ext cx="781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A6E411-D676-45E5-B5A4-EABAC0755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219200"/>
            <a:ext cx="7810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8FB3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CD0B0-D013-4545-BD92-F9493D88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390650"/>
            <a:ext cx="781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B49A97-BF16-41B6-8422-29ED5979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219200"/>
            <a:ext cx="7810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8FB3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EE4E0-FFEA-4F08-B8C5-A99395E7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781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3CC862-EE55-4526-9FEC-22EB634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19200"/>
            <a:ext cx="7810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1EBBC6-3E6A-4450-B200-1BFAEC34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390650"/>
            <a:ext cx="781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4FA2D0-BB2C-42DE-BC44-21EE689A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219200"/>
            <a:ext cx="7810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925CBC-859D-4611-9B67-D6863574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90650"/>
            <a:ext cx="781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D372FC-0684-4D59-B768-2D8B7065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0182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101828"/>
                </a:solidFill>
                <a:latin typeface="Consolas"/>
                <a:ea typeface="Consolas"/>
                <a:cs typeface="Consolas"/>
              </a:rPr>
              <a:t>查询 key = 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9F562-3C89-4E62-94DC-8692D9CE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49720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8327B5-6FEF-4E66-868C-D1D6C5D7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385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563EB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2563EB"/>
                </a:solidFill>
                <a:latin typeface="Consolas"/>
                <a:ea typeface="Consolas"/>
                <a:cs typeface="Consolas"/>
              </a:rPr>
              <a:t>lower_bound(3)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D4D64D-2374-490A-9ADF-E10A3745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909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第一个“不小于 3”的位置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03C5A5-DB3A-4C8E-A7C8-F03B1A2A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43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 指向第一个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466792-196C-4A2B-B8D4-4E440F7D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52750"/>
            <a:ext cx="5238750" cy="19240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8466C-DE06-4960-B87C-D202C3A8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5484D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E5484D"/>
                </a:solidFill>
                <a:latin typeface="Consolas"/>
                <a:ea typeface="Consolas"/>
                <a:cs typeface="Consolas"/>
              </a:rPr>
              <a:t>upper_bound(3)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F226D3-C8A9-4828-B786-708D81B0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第一个“严格大于 3”的位置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B1983E-9D67-4139-AF5D-CBD740DE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434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→ 指向 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D90BF0-A685-4C51-8495-C718929B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区间 [lower_bound(key), upper_bound(key)) 恰好覆盖所有与 key 等价的元素。</a:t>
            </a:r>
          </a:p>
        </p:txBody>
      </p:sp>
    </p:spTree>
    <p:extLst>
      <p:ext uri="{BB962C8B-B14F-4D97-AF65-F5344CB8AC3E}">
        <p14:creationId xmlns:p14="http://schemas.microsoft.com/office/powerpoint/2010/main" val="12919062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2BF100-7F5D-4121-9DC7-B14402B6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BBCFB-F722-4B83-9A42-C62DEB9D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在 set 中优先调用成员函数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6687AA-2582-42A6-8526-FF942AA01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C3A9B-5EBC-464D-9741-288974A4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1912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BE22D-77BD-400B-89B7-295B71DA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5240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set&lt;int&gt; s{1, 3, 5, 7, 9};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273DF-70F3-43D0-B196-0DFF71FB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auto lo = s.lower_bound(5); // *lo ==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A46F61-2C66-49FA-B3A4-D5B3A1A1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auto hi = s.upper_bound(5); // *hi == 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7B981-AC75-40EA-BA6C-6F2A3B8C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F0D5DD-DC15-49B5-8CE9-5890F8B8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// 查找闭区间 [L, R] 内的元素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E68FFB-A571-4141-B5EC-549DA2C0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for (auto it = s.lower_bound(L);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17EA3-4E8F-471D-B036-090C4C96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   it != s.upper_bound(R); ++it)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99924-9930-4E5A-859A-73D02348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5734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cout &lt;&lt; *it &lt;&lt; ' ';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73535B-28BF-41ED-9EDA-7A9F5203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352550"/>
            <a:ext cx="38862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B5963-F91E-45CD-8370-CAB0E3B4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573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为什么用成员函数？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E0BBE-4105-4EE9-8F70-830917B4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52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99E91-7551-40F1-B90D-DEC74F53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6695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自动使用 set 保存的 Compare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73DBD-CD7A-437B-969E-03EE1DFF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38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A2EDBA-06A1-4356-9430-4F39F6C8F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树上查找，复杂度 O(log n)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A3BC5E-4E2A-4FA4-B1E4-80775AC0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24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EDDEEB-3C48-4106-9373-CA97CC96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找不到时返回 end()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9290BA-1900-4FC3-AAE9-04922CCE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101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算法版 std::lower_bound(first, last, key, comp) 虽只做 O(log n) 次比较，但对 set 迭代器可能产生 O(n) 次移动。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C5792-CEB5-4BFA-8AA6-454ACA06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结论：关联容器有成员版，就优先用成员版。</a:t>
            </a:r>
          </a:p>
        </p:txBody>
      </p:sp>
    </p:spTree>
    <p:extLst>
      <p:ext uri="{BB962C8B-B14F-4D97-AF65-F5344CB8AC3E}">
        <p14:creationId xmlns:p14="http://schemas.microsoft.com/office/powerpoint/2010/main" val="6167254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7D19D4-2F80-4867-9F6B-ADDFEB32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6B70A2-C8C5-42B6-9FD7-DA7CB9D4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比较器语义一变，二分边界就失去前提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BA8F81-545D-481A-B5AD-BB1A7EA8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F50A37-F42B-4A1F-AEC0-2C0C1769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std::lower_bound / upper_bound 的前置条件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88DE5-30D2-4FD6-968D-8575F8CE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区间必须在本次传入的 comp 语义下保持分区（通常就是按同一规则有序）。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D15A96-FD6E-452C-8EE2-76DD55D7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67627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9525">
            <a:solidFill>
              <a:srgbClr val="10182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26F35D-7F45-4D0B-A767-B47D890F6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630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vector&lt;int&gt; a{1, 3, 5, 7, 9};  // 升序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081A4-8ADB-4B26-A37B-D5DDF9BA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630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6EDF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auto it = lower_bound(a.begin(), a.end(), 5,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02175-7F85-41FE-9FE0-A79FF91A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630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7DD3FC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7DD3FC"/>
                </a:solidFill>
                <a:latin typeface="Consolas"/>
                <a:ea typeface="Consolas"/>
                <a:cs typeface="Consolas"/>
              </a:rPr>
              <a:t>  [](int x, int y){ return x &gt; y; }); // 却按降序查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562C39-BB65-42AA-855C-7F8673E5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33909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1F2"/>
          </a:solidFill>
          <a:ln xmlns:a="http://schemas.openxmlformats.org/drawingml/2006/main" w="9525">
            <a:solidFill>
              <a:srgbClr val="FFC9C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FA744-647F-4E1F-AD91-0F9007F9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1940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此时区间不满足前置条件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77CF3-85ED-4B0E-BD39-9606C6CE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909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329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结果不受标准保证，不能依赖。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25A657-A13D-42B2-8952-624896DD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rPr>
              <a:t>可能表现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8A0274-134A-469D-89E2-00FEE13A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7B0FDC-9C92-4F21-B862-87707361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4724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返回错误位置或意外的 end()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0C914D-E3AA-4001-BBD5-A6C9F066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095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748CE4-9676-4E2D-9888-9CF414A5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010150"/>
            <a:ext cx="5105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不同编译器、优化级别下结果不一致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8F77CA-5917-46AF-BED1-40FF5276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DB9185-9732-4155-86D5-B0131BA7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4213D"/>
                </a:solidFill>
                <a:latin typeface="Microsoft YaHei"/>
                <a:ea typeface="Microsoft YaHei"/>
                <a:cs typeface="Microsoft YaHei"/>
              </a:rPr>
              <a:t>若 set 自身的 Compare 不满足严格弱序，插入、查找、删除等整体都失去保证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6ED025-0424-4563-BAFE-B65138FC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安全规则：排序、建树、lower_bound、upper_bound 必须共享同一套严格弱序语义。</a:t>
            </a:r>
          </a:p>
        </p:txBody>
      </p:sp>
    </p:spTree>
    <p:extLst>
      <p:ext uri="{BB962C8B-B14F-4D97-AF65-F5344CB8AC3E}">
        <p14:creationId xmlns:p14="http://schemas.microsoft.com/office/powerpoint/2010/main" val="3908756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EA7151-011D-489D-AE6D-AB3C2B16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92A2CD-0EF2-4098-8085-33BD3796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收束：遇到 set 比较器，按这条链路作答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595D9-D2D9-4028-BDF4-1BF11C1F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CD31E6-46CE-4390-88A9-765965A9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2266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86C8B-B472-4324-B66D-792E493B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271F60-9EF6-4879-9382-2E94F840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看声明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467B79-E1CD-4CDF-BD59-1FCC3248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1847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T 存什么？</a:t>
            </a:r>
          </a:p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Compare 是谁？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E4310-FA73-4EDE-81D7-2D3DDEB6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29527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895D47-EC79-4DB5-B704-AE0BFE3F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33600"/>
            <a:ext cx="2266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94771D-6EF9-4B48-9F81-8118557A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4315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9A24F4-8F72-4EB9-A5E0-7E58775F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读语义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9958CF-4AD6-4110-B435-72D7FC76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81375"/>
            <a:ext cx="1847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true 是否表示</a:t>
            </a:r>
          </a:p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严格排在前？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6E5AC-A5D4-404F-9C96-AFA0A993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29527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B10176-5FA6-4FBC-8493-1ACC38D0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266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8FB3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FE24F4-972B-44FA-890B-8966266E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4315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39A9BC-AC5F-497C-AB84-523E1848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验性质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5FA615-3FB7-4891-B79C-7B9070B6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81375"/>
            <a:ext cx="1847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非自反、非对称、</a:t>
            </a:r>
          </a:p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传递、等价传递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BCC09B-4C26-4FAF-9FD8-FF517A85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952750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31B0CF-7CAB-418C-8D56-6FEB57DD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33600"/>
            <a:ext cx="2266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661280-E6E7-4BF6-846A-5C665E1B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43150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733C16-A21A-45A1-9FAC-634BD857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003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推结果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7F9DD9-CF01-4BC4-A689-2A9E717A9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81375"/>
            <a:ext cx="1847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顺序、去重、</a:t>
            </a:r>
          </a:p>
          <a:p xmlns:a="http://schemas.openxmlformats.org/drawingml/2006/main">
            <a:pPr algn="l">
              <a:def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查找边界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A2A965-4C71-4566-B8AB-118C615F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一句话记忆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5C52DF-9D1A-4374-8B8A-4953AAA6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set 用比较器建立“严格弱序”；不可区分的元素，就是 set 眼中的同一个键。</a:t>
            </a:r>
          </a:p>
        </p:txBody>
      </p:sp>
    </p:spTree>
    <p:extLst>
      <p:ext uri="{BB962C8B-B14F-4D97-AF65-F5344CB8AC3E}">
        <p14:creationId xmlns:p14="http://schemas.microsoft.com/office/powerpoint/2010/main" val="17145007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2026-08-05T12:19:15.2330000Z</dcterms:created>
  <dcterms:modified xsi:type="dcterms:W3CDTF">2026-08-05T12:19:15.2330000Z</dcterms:modified>
</coreProperties>
</file>